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327C1-034A-4885-82FF-4AF067BF8C3B}">
  <a:tblStyle styleId="{60F327C1-034A-4885-82FF-4AF067BF8C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97b211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97b211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39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3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571500"/>
            <a:ext cx="11601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Ciencia </a:t>
            </a: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Tecnología</a:t>
            </a: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innovación</a:t>
            </a: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2286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Juan Camilo Romero Romero</a:t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		</a:t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2286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Brayan David Guarnizo Rey</a:t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18/11/2025</a:t>
            </a:r>
            <a:endParaRPr b="1" sz="300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4647987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La Gran Barrera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334125" y="30575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Complejidad Técnica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334125" y="37052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complejidad de lenguajes como SQL es la principal causa de desmotivación y bajo rendimiento en estudiantes de primeros semestres al aprender Bases de Datos.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Inicio Impactante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 Problema Central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88607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Estudiantes de Ingeniería de Sistemas en la UDEC enfrentan dificultades para comprender los conceptos fundamentales de bases de datos debido a la falta de conocimientos previos en programación.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Enunciado del Problema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2190750" y="2676525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Desmotivación y Frustración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curva de aprendizaje inicial es demasiado alta.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2190750" y="3495675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Bajo Rendimiento Académico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Dificultad para aprobar las asignaturas introductorias.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190750" y="4314825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Limitada Aplicación Práctica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Incapacidad de aplicar conocimientos en proyectos prácticos.</a:t>
            </a:r>
            <a:endParaRPr/>
          </a:p>
        </p:txBody>
      </p:sp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24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433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624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Contexto del Problema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2057400" y="2513707"/>
            <a:ext cx="80772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Analizar la influencia de un gestor de BBDD basado en programación en bloques en la comprensión de conceptos.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681537" y="5039617"/>
            <a:ext cx="2828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— Propósito de la Investigación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581150" y="2799457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0334625" y="4658622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Objetivo Principal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2190750" y="264318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Diseñar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gestor con interfaz de bloques accesible.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2190750" y="314801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Implementar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gestor en un grupo de estudiantes de la UDEC.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2190750" y="365283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Evaluar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impacto de la herramienta en la comprensión.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2190750" y="415766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Comparar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los resultados con métodos tradicionales (SQL).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2190750" y="466248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Proponer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mejoras al gestor basadas en los hallazgos.</a:t>
            </a:r>
            <a:endParaRPr/>
          </a:p>
        </p:txBody>
      </p:sp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908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956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7004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2052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71011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5. Objetivos Específicos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6334125" y="28194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 Solución: "DataBlocks EDU"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334125" y="34671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gestor de bases de datos basado en programación en bloques, inspirado en Scratch y Blockly.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334125" y="42291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Proporciona un entorno visual e intuitivo, reduciendo la barrera técnica del código.</a:t>
            </a:r>
            <a:endParaRPr/>
          </a:p>
        </p:txBody>
      </p:sp>
      <p:pic>
        <p:nvPicPr>
          <p:cNvPr descr="image.png" id="152" name="Google Shape;1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7337" y="224790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6. Descripción del Tema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 Puente Pedagógico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71500" y="28860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bases de datos son un pilar fundamental en la formación profesional. Este proyecto cierra la brecha entre la teoría y la práctica.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571500" y="39338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Promueve un aprendizaje accesible, inclusivo y significativo para todos.</a:t>
            </a:r>
            <a:endParaRPr/>
          </a:p>
        </p:txBody>
      </p:sp>
      <p:pic>
        <p:nvPicPr>
          <p:cNvPr descr="image.png" id="163" name="Google Shape;16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7. Importancia del Tema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Ciencia, Tecnología e Innovación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571500" y="28860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proyecto se alinea con CTeI al aplicar TICs (Tecnologías de la Información y Comunicación) para resolver un problema concreto en la formación de Ingeniería de Sistemas.</a:t>
            </a:r>
            <a:endParaRPr/>
          </a:p>
        </p:txBody>
      </p:sp>
      <p:pic>
        <p:nvPicPr>
          <p:cNvPr descr="image.png" id="173" name="Google Shape;1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8. Línea de Investigación Principal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Innovación Pedagógica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571500" y="2886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utiliza la tecnología (programación en bloques) no como un fin, sino como un medio para crear una nueva metodología didáctica.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36480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enfoque es inclusivo y centrado en el estudiante.</a:t>
            </a:r>
            <a:endParaRPr/>
          </a:p>
        </p:txBody>
      </p:sp>
      <p:pic>
        <p:nvPicPr>
          <p:cNvPr descr="image.png"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9. Línea Complementaria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1275"/>
            <a:ext cx="528637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81275"/>
            <a:ext cx="52863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849391" y="29718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CTeI (El Qué)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962025" y="36195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desarrollo de una nueva herramienta tecnológica (el gestor de BBDD).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6612016" y="2971800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Innovación Pedagógica (El Cómo)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6724650" y="407670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aplicación de esta herramienta para facilitar el aprendizaje y democratizar el conocimiento.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10. Conexión con el Proyecto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6334125" y="30575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ODS 4: Educación de Calidad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6334125" y="37052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proyecto se alinea directamente con el ODS 4 al buscar "garantizar una educación inclusiva, equitativa y de calidad y promover oportunidades de aprendizaje".</a:t>
            </a:r>
            <a:endParaRPr/>
          </a:p>
        </p:txBody>
      </p:sp>
      <p:pic>
        <p:nvPicPr>
          <p:cNvPr descr="image.png" id="206" name="Google Shape;2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7337" y="224790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11. Conexión con el ODS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Contribución al ODS 4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571500" y="2886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herramienta "DataBlocks" democratiza el aprendizaje de tecnología.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571500" y="3648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Fomenta competencias digitales esenciales para una educación de calidad en el siglo XXI.</a:t>
            </a:r>
            <a:endParaRPr/>
          </a:p>
        </p:txBody>
      </p:sp>
      <p:pic>
        <p:nvPicPr>
          <p:cNvPr descr="image.png" id="217" name="Google Shape;2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12. Impacto en el ODS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519362"/>
            <a:ext cx="34290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1130855" y="3529012"/>
            <a:ext cx="2310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Estudiantes (UDEC)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866775" y="41576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Beneficiarios directos. Buscan aprender BBDD sin la frustración del código.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5525928" y="3529012"/>
            <a:ext cx="11401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Docentes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4676775" y="41576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Implementadores. Buscan herramientas pedagógicas efectivas para mejorar su cátedra.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9205912" y="3529012"/>
            <a:ext cx="14001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Universidad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8486775" y="4157662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Contexto. Busca innovación académica, inclusión y mejorar el rendimiento estudiantil.</a:t>
            </a:r>
            <a:endParaRPr/>
          </a:p>
        </p:txBody>
      </p:sp>
      <p:pic>
        <p:nvPicPr>
          <p:cNvPr descr="image.png" id="233" name="Google Shape;23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8336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13. Análisis de Participación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14. Árbol de Problemas</a:t>
            </a:r>
            <a:endParaRPr/>
          </a:p>
        </p:txBody>
      </p:sp>
      <p:pic>
        <p:nvPicPr>
          <p:cNvPr descr="image.png" id="243" name="Google Shape;24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2573238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704850" y="1733550"/>
            <a:ext cx="52706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Efectos: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704850" y="3367980"/>
            <a:ext cx="52706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Problema Central: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704850" y="4015680"/>
            <a:ext cx="5019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Dificultad en la comprensión de conceptos fundamentales de BBDD.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704825" y="4604308"/>
            <a:ext cx="52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Causas: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990600" y="23612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1085850" y="2362200"/>
            <a:ext cx="4638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Bajo rendimiento académico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990600" y="27879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1085850" y="2788890"/>
            <a:ext cx="4638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Desmotivación y frustración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990600" y="50700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1085850" y="5071020"/>
            <a:ext cx="4638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Complejidad técnica de SQL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990600" y="54967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1085850" y="5497710"/>
            <a:ext cx="4638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Falta de conocimientos previos en programación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15. Árbol de Objetivos</a:t>
            </a:r>
            <a:endParaRPr/>
          </a:p>
        </p:txBody>
      </p:sp>
      <p:pic>
        <p:nvPicPr>
          <p:cNvPr descr="image.png" id="262" name="Google Shape;2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2522487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8"/>
          <p:cNvSpPr txBox="1"/>
          <p:nvPr/>
        </p:nvSpPr>
        <p:spPr>
          <a:xfrm>
            <a:off x="871537" y="173355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Fines:</a:t>
            </a:r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871537" y="336798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Propósito: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871537" y="4015680"/>
            <a:ext cx="4686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Facilitar la comprensión de conceptos fundamentales de BBDD.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871537" y="4604295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Medios:</a:t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1157287" y="23612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8" name="Google Shape;268;p28"/>
          <p:cNvSpPr txBox="1"/>
          <p:nvPr/>
        </p:nvSpPr>
        <p:spPr>
          <a:xfrm>
            <a:off x="1252537" y="2362200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Mejorar rendimiento académico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1157287" y="27879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1252537" y="2788890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Aumentar la motivación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1157287" y="50700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1252537" y="5071020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Diseño de gestor visual (bloques)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1157287" y="54967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1252537" y="5497710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Implementación de metodología intuitiva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0" name="Google Shape;280;p29"/>
          <p:cNvGraphicFramePr/>
          <p:nvPr/>
        </p:nvGraphicFramePr>
        <p:xfrm>
          <a:off x="571500" y="26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{60F327C1-034A-4885-82FF-4AF067BF8C3B}</a:tableStyleId>
              </a:tblPr>
              <a:tblGrid>
                <a:gridCol w="3634375"/>
                <a:gridCol w="2874175"/>
                <a:gridCol w="2988625"/>
                <a:gridCol w="1551825"/>
              </a:tblGrid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Alternativa de Solución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Viabilidad (Recursos)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Impacto (Pedagógico)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Selección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Gestor en Bloques (DataBlocks)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 (Tecnología abierta)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 (Innovador)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SÍ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Clases SQL Intensivas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Media (Horas-docente)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Bajo (Mismo problema)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Más Tutoriales y Videos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 (Material existente)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Bajo (Pasivo, no práctico)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9"/>
          <p:cNvSpPr/>
          <p:nvPr/>
        </p:nvSpPr>
        <p:spPr>
          <a:xfrm>
            <a:off x="571500" y="3257550"/>
            <a:ext cx="3634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4205882" y="3257550"/>
            <a:ext cx="2874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7080051" y="3257550"/>
            <a:ext cx="298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10068669" y="3257550"/>
            <a:ext cx="1551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71500" y="3895725"/>
            <a:ext cx="3634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4205882" y="3895725"/>
            <a:ext cx="2874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7080051" y="3895725"/>
            <a:ext cx="298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10068669" y="3895725"/>
            <a:ext cx="1551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571500" y="4533900"/>
            <a:ext cx="3634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4205882" y="4533900"/>
            <a:ext cx="28741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7080051" y="4533900"/>
            <a:ext cx="2988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10068669" y="4533900"/>
            <a:ext cx="1551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97269" y="35004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97269" y="41386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97269" y="4776787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16. Análisis de Alternativas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0"/>
          <p:cNvSpPr txBox="1"/>
          <p:nvPr/>
        </p:nvSpPr>
        <p:spPr>
          <a:xfrm>
            <a:off x="1195863" y="3643312"/>
            <a:ext cx="21802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Mejor Desempeño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866775" y="42719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Aumento medible en la comprensión de conceptos y en el rendimiento académico.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4945856" y="3643312"/>
            <a:ext cx="23002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Percepción Positiva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4676775" y="42719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Alta calificación en facilidad de uso y aumento de la motivación estudiantil.</a:t>
            </a:r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9240916" y="3643312"/>
            <a:ext cx="13301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Innovación</a:t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8486775" y="4271962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Evidencia de una estrategia pedagógica efectiva que puede ser replicada.</a:t>
            </a:r>
            <a:endParaRPr/>
          </a:p>
        </p:txBody>
      </p:sp>
      <p:pic>
        <p:nvPicPr>
          <p:cNvPr descr="image.png" id="311" name="Google Shape;31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9479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50" y="294798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17. Resultados Esperados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Impacto en la Región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571500" y="2886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Contribuir a la innovación educativa y a la democratización del acceso al aprendizaje de TICs en Cundinamarca.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571500" y="36480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Formar profesionales mejor preparados para los retos tecnológicos de la región.</a:t>
            </a:r>
            <a:endParaRPr/>
          </a:p>
        </p:txBody>
      </p:sp>
      <p:pic>
        <p:nvPicPr>
          <p:cNvPr descr="image.png" id="323" name="Google Shape;32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4790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18. Impacto Local en Cundinamarca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2057400" y="2642294"/>
            <a:ext cx="80772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"Un puente entre la enseñanza tradicional y metodologías didácticas modernas, promoviendo un aprendizaje accesible y significativo."</a:t>
            </a:r>
            <a:endParaRPr/>
          </a:p>
        </p:txBody>
      </p:sp>
      <p:sp>
        <p:nvSpPr>
          <p:cNvPr id="331" name="Google Shape;331;p32"/>
          <p:cNvSpPr txBox="1"/>
          <p:nvPr/>
        </p:nvSpPr>
        <p:spPr>
          <a:xfrm>
            <a:off x="1581150" y="292804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32" name="Google Shape;332;p32"/>
          <p:cNvSpPr txBox="1"/>
          <p:nvPr/>
        </p:nvSpPr>
        <p:spPr>
          <a:xfrm>
            <a:off x="10334625" y="4787210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DBEA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19. Conclusión Principal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 txBox="1"/>
          <p:nvPr/>
        </p:nvSpPr>
        <p:spPr>
          <a:xfrm>
            <a:off x="295275" y="185261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¡Gracias!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571500" y="32051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DataBlocks EDU: Innovando para una Educación de Calidad.</a:t>
            </a:r>
            <a:endParaRPr/>
          </a:p>
        </p:txBody>
      </p:sp>
      <p:pic>
        <p:nvPicPr>
          <p:cNvPr descr="image.png" id="341" name="Google Shape;34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4014787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